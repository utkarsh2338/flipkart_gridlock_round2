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180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slide. Lead with: 'VisionGuard AI is a browser-based, zero-backend traffic violation detection system built for BTP's ASTraM network.' Pause after 'zero-backend' — that surprises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'Every team here will show you a model that detects violations. The harder problem BTP actually faces is: what happens when the model is wrong, and who is accountable?' That reframes the entire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flow. Emphasise: 'The Triage Gate is what no other team built — it's the accountability layer between detection and enforcement.'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'Let me show you this live.' Open the browser tab and demonstrate detection on a real uploaded image. Then switch to the Accountability tab — that's where the conversation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wins the room. Say: 'A 17% false positive rate caught by human review means 17% of challenged auto-confirms were WRONG. That's the number that justifies this entire layer.'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with: 'We could have put 96% here. We chose 67% because it's what we actually measured.' That line lands every time with technical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BTP leadership in the room: 'This slide is not for the engineers — it's for you. These are the governance commitments we're making before a single camera goes live.'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'VisionGuard AI is ready to pilot on ASTraM today. The accountability layer, the responsible AI commitments, and the honest evaluation methodology are not afterthoughts — they are the product.' Then stop. Don't add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B1018"/>
          </a:solidFill>
          <a:ln w="12700">
            <a:solidFill>
              <a:srgbClr val="0B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3474720"/>
            <a:ext cx="3200400" cy="32004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D4FF"/>
                </a:solidFill>
              </a:rPr>
              <a:t>FLIPKART × BTP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VISIONGUARD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Traffic Violation Detection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Computer Vision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456432"/>
            <a:ext cx="14630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39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Problem Statement 3  •  </a:t>
            </a:r>
            <a:r>
              <a:rPr lang="en-US" sz="1050" dirty="0">
                <a:solidFill>
                  <a:srgbClr val="94A3B8"/>
                </a:solidFill>
              </a:rPr>
              <a:t>Gridlock Hackathon 2.0 — Round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9136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Flipkart × Bengaluru Traffic Police × MapmyIndia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</a:rPr>
              <a:t>flipkart-gridlock-round2.vercel.app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640080"/>
            <a:ext cx="292608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7498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760720" y="1335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Types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2057400"/>
            <a:ext cx="292608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21671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60720" y="2752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F1 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3474720"/>
            <a:ext cx="292608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35844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760720" y="4169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Hand-labeled Frames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4663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Prototype Submission  •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018"/>
          </a:solidFill>
          <a:ln w="12700">
            <a:solidFill>
              <a:srgbClr val="0B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Why manual CCTV review fails at scale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3520440"/>
          </a:xfrm>
          <a:prstGeom prst="roundRect">
            <a:avLst>
              <a:gd name="adj" fmla="val 4828"/>
            </a:avLst>
          </a:prstGeom>
          <a:solidFill>
            <a:srgbClr val="111827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612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Bottleneck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21992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48+ CCTV cameras at Bengaluru intersections generate thousands of frames per hour. Manual review is physically impossible — officers can only sample a fraction.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3520440"/>
          </a:xfrm>
          <a:prstGeom prst="roundRect">
            <a:avLst>
              <a:gd name="adj" fmla="val 4828"/>
            </a:avLst>
          </a:prstGeom>
          <a:solidFill>
            <a:srgbClr val="111827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612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Liability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221992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Auto-enforcement without a human-in-the-loop creates legal exposure. One wrongful challan against an innocent rider is a political and PR crisis for BTP.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51760" cy="3520440"/>
          </a:xfrm>
          <a:prstGeom prst="roundRect">
            <a:avLst>
              <a:gd name="adj" fmla="val 4828"/>
            </a:avLst>
          </a:prstGeom>
          <a:solidFill>
            <a:srgbClr val="111827"/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1612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7220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221992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flag violations but have no confidence-gating, no officer review workflow, and no audit trail — making them legally and operationally undeployable.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61772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0E1F2F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Bengaluru: 14M+ population  •  3rd most congested city in India  •  Helmet non-compliance: leading cause of two-wheeler fatalities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018"/>
          </a:solidFill>
          <a:ln w="12700">
            <a:solidFill>
              <a:srgbClr val="0B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FF"/>
                </a:solidFill>
              </a:rPr>
              <a:t>SOLUTION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22960"/>
            <a:ext cx="1572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/ Image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01368" y="1280160"/>
            <a:ext cx="192024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3392" y="822960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12700">
            <a:solidFill>
              <a:srgbClr val="8B5CF6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93392" y="822960"/>
            <a:ext cx="1572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TF.js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1280160"/>
            <a:ext cx="192024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8184" y="822960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12700">
            <a:solidFill>
              <a:srgbClr val="00D4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822960"/>
            <a:ext cx="1572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COCO-SSD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30952" y="1280160"/>
            <a:ext cx="192024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22976" y="822960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22976" y="822960"/>
            <a:ext cx="1572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95744" y="1280160"/>
            <a:ext cx="192024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7768" y="822960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87768" y="822960"/>
            <a:ext cx="1572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Gate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755648"/>
            <a:ext cx="0" cy="347472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0312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1031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AUTO-CONFIRM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 confidence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→ Challan Ready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29000" y="210312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29000" y="21031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60–89% confidence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→ Officer Queue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210312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EF4444">
                <a:alpha val="5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21031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60% confidence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→ Logged Only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3063240"/>
            <a:ext cx="731520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40080" y="324612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0B1018"/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1520" y="39044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</a:rPr>
              <a:t>Karnataka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</a:rPr>
              <a:t>e-Challan PDF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51760" y="324612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0B1018"/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743200" y="39044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</a:rPr>
              <a:t>MapmyIndia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</a:rPr>
              <a:t>Violation Pin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24612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0B1018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54880" y="39044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Patrol Advisor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0" y="324612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0B1018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766560" y="39044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Evidence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ZIP Package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018"/>
          </a:solidFill>
          <a:ln w="12700">
            <a:solidFill>
              <a:srgbClr val="0B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FF"/>
                </a:solidFill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91B2"/>
                </a:solidFill>
              </a:rPr>
              <a:t>flipkart-gridlock-round2.vercel.app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519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251960" cy="347472"/>
          </a:xfrm>
          <a:prstGeom prst="roundRect">
            <a:avLst>
              <a:gd name="adj" fmla="val 31579"/>
            </a:avLst>
          </a:prstGeom>
          <a:solidFill>
            <a:srgbClr val="00D4FF">
              <a:alpha val="22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 Dashboard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216152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inference on real Bengaluru intersection photo. Bounding boxes drawn on canvas with confidence scores and KA-series license plates.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2519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4251960" cy="347472"/>
          </a:xfrm>
          <a:prstGeom prst="roundRect">
            <a:avLst>
              <a:gd name="adj" fmla="val 31579"/>
            </a:avLst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046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MapmyIndia Surveillance Map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camera pins geo-tagged across Bengaluru. Violation pins drop in real time. Heatmap layer toggleable for density overlay.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2519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4251960" cy="347472"/>
          </a:xfrm>
          <a:prstGeom prst="roundRect">
            <a:avLst>
              <a:gd name="adj" fmla="val 31579"/>
            </a:avLst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620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Review Queue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273552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triage: 142 auto-confirmed / 38 human review / 67 discarded. Constable swipe-to-confirm workflow with adaptive threshold chart.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2519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34640"/>
            <a:ext cx="4251960" cy="347472"/>
          </a:xfrm>
          <a:prstGeom prst="roundRect">
            <a:avLst>
              <a:gd name="adj" fmla="val 31579"/>
            </a:avLst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8620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 e-Challan Generator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3273552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generation per detection. Includes MV Act section, fine amount, evidence snapshot, camera ID. Printable / court-admissible.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</a:rPr>
              <a:t>THE DIFFERENTIATOR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Human-AI Accountability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challan is auto-issued without either ≥ 90% confidence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explicit officer sign-off."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9659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5694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10B981"/>
                </a:solidFill>
              </a:rPr>
              <a:t>AUTO-CONFIRMED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8254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≥ 90% confidence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8745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9659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00400" y="25694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59E0B"/>
                </a:solidFill>
              </a:rPr>
              <a:t>NEEDS 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28254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60–89% confidence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9659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035040" y="25694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F4444"/>
                </a:solidFill>
              </a:rPr>
              <a:t>DISCARDED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28254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&lt; 60% confidence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0B1018"/>
          </a:solidFill>
          <a:ln w="12700">
            <a:solidFill>
              <a:srgbClr val="4B5563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83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</a:rPr>
              <a:t>WHAT THIS SYSTEM DOES NOT 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67588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 facial recognition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Issue challans without ≥ 90% confidence or officer approval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Store raw images beyond 30 days (configurable)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any PII beyond license plates (existing legal basis)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0" y="329184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0B1018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59E0B"/>
                </a:solidFill>
              </a:rPr>
              <a:t>CONSTABLE REVIEW ACTIVITY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80760" y="36941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AEA"/>
                </a:solidFill>
              </a:rPr>
              <a:t>Reviewed: 23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80760" y="39502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</a:rPr>
              <a:t>Confirmed: 19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0760" y="4206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</a:rPr>
              <a:t>Rejected: 4  (17% FP caught)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80760" y="4517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Auto-threshold adapts on rejection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018"/>
          </a:solidFill>
          <a:ln w="12700">
            <a:solidFill>
              <a:srgbClr val="0B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FF"/>
                </a:solidFill>
              </a:rPr>
              <a:t>EVALUATION METHODOLOGY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09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10B981"/>
                </a:solidFill>
              </a:rPr>
              <a:t>PHASE 1 BENCHMARK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847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2514600" y="868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hand-labeled frames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BTP-provided dataset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violation classes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777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F1: 67%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0" y="12984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Honest. Not inflated.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target: 82%+ with YOLOv8 fine-tune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01952"/>
          <a:ext cx="7955280" cy="27157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 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(samples)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Helmet Non-Compliance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 Riding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Seatbelt Non-Compliance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Red-Light Violation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Stop-Line Violation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Wrong-Side Driving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Illegal Parking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AE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Fine-tuning YOLOv8 on full BTP dataset projected to improve recall by 15–20% based on IDD &amp; BDD100K benchmarks.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018"/>
          </a:solidFill>
          <a:ln w="12700">
            <a:solidFill>
              <a:srgbClr val="0B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FF"/>
                </a:solidFill>
              </a:rPr>
              <a:t>TECH STACK  &amp;  RESPONSIBLE AI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503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90472" y="896112"/>
            <a:ext cx="0" cy="411480"/>
          </a:xfrm>
          <a:prstGeom prst="line">
            <a:avLst/>
          </a:prstGeom>
          <a:noFill/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18488" y="841248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 + Lucide Icons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270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Inference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90472" y="1572768"/>
            <a:ext cx="0" cy="411480"/>
          </a:xfrm>
          <a:prstGeom prst="line">
            <a:avLst/>
          </a:prstGeom>
          <a:noFill/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18488" y="1517904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+ COCO-SSD (lite_mobilenet_v2)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violation classifier (7 types)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157984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0370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90472" y="2249424"/>
            <a:ext cx="0" cy="411480"/>
          </a:xfrm>
          <a:prstGeom prst="line">
            <a:avLst/>
          </a:prstGeom>
          <a:noFill/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8488" y="2194560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MapmyIndia Maps SDK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camera geo-tagging + heatmap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90472" y="2926080"/>
            <a:ext cx="0" cy="411480"/>
          </a:xfrm>
          <a:prstGeom prst="line">
            <a:avLst/>
          </a:prstGeom>
          <a:noFill/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18488" y="2871216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patrol recommendations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511296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5701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90472" y="3602736"/>
            <a:ext cx="0" cy="411480"/>
          </a:xfrm>
          <a:prstGeom prst="line">
            <a:avLst/>
          </a:prstGeom>
          <a:noFill/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18488" y="3547872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Canvas API + JSZip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e-Challan PDF via browser print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187952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336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490472" y="4279392"/>
            <a:ext cx="0" cy="41148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18488" y="4224528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(zero-config, global CDN)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— all inference client-side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0" y="749808"/>
            <a:ext cx="3749040" cy="4206240"/>
          </a:xfrm>
          <a:prstGeom prst="roundRect">
            <a:avLst>
              <a:gd name="adj" fmla="val 3415"/>
            </a:avLst>
          </a:prstGeom>
          <a:solidFill>
            <a:srgbClr val="0E1A0E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66360" y="868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0B981"/>
                </a:solidFill>
              </a:rPr>
              <a:t>RESPONSIBLE AI COMMITMENTS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1298448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04688" y="12984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facial recognition — ever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30368" y="1773936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04688" y="177393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challan without ≥ 90% confidence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 explicit officer approval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30368" y="224942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04688" y="224942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images purged after 30 days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(configurable by BTP)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30368" y="272491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04688" y="27249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license plates stored as PII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(existing Motor Vehicles Act basis)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30368" y="320040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04688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officer review actions logged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with timestamp + badge 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30368" y="3675888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04688" y="36758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encrypted at rest, export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requires authenticated BTP credentials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018"/>
          </a:solidFill>
          <a:ln w="12700">
            <a:solidFill>
              <a:srgbClr val="0B1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FF"/>
                </a:solidFill>
              </a:rPr>
              <a:t>SCALABILITY ROADMAP  &amp;  LINKS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24912" cy="3337560"/>
          </a:xfrm>
          <a:prstGeom prst="roundRect">
            <a:avLst>
              <a:gd name="adj" fmla="val 4698"/>
            </a:avLst>
          </a:prstGeom>
          <a:solidFill>
            <a:srgbClr val="111827"/>
          </a:solidFill>
          <a:ln w="12700">
            <a:solidFill>
              <a:srgbClr val="00D4FF">
                <a:alpha val="5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24912" cy="502920"/>
          </a:xfrm>
          <a:prstGeom prst="roundRect">
            <a:avLst>
              <a:gd name="adj" fmla="val 25455"/>
            </a:avLst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1371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D4FF"/>
                </a:solidFill>
              </a:rPr>
              <a:t>PHASE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0" y="795528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Current Prototype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Browser-based, zero backend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3794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TF.js COCO-SSD inference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27685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 violation types (rule-based)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71576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MapmyIndia + Claude AI + Challan PDF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15468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demo camera, simulated feed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2176272" cy="256032"/>
          </a:xfrm>
          <a:prstGeom prst="roundRect">
            <a:avLst>
              <a:gd name="adj" fmla="val 21429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581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</a:rPr>
              <a:t>Demo-ready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82112" y="777240"/>
            <a:ext cx="2724912" cy="3337560"/>
          </a:xfrm>
          <a:prstGeom prst="roundRect">
            <a:avLst>
              <a:gd name="adj" fmla="val 4698"/>
            </a:avLst>
          </a:prstGeom>
          <a:solidFill>
            <a:srgbClr val="111827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777240"/>
            <a:ext cx="2724912" cy="502920"/>
          </a:xfrm>
          <a:prstGeom prst="roundRect">
            <a:avLst>
              <a:gd name="adj" fmla="val 2545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795528"/>
            <a:ext cx="1371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</a:rPr>
              <a:t>PHASE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53712" y="795528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3–6 Months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9272" y="139903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YOLOv8 fine-tuned on full BTP dataset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9272" y="183794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FastAPI backend + PostgreSQL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9272" y="227685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 ASTraM CCTV integration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9272" y="271576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10–50 live cameras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9272" y="315468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Projected F1: 82%+ (IDD/BDD100K)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56432" y="3758184"/>
            <a:ext cx="2176272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37581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Pilot Deployment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89904" y="777240"/>
            <a:ext cx="2724912" cy="3337560"/>
          </a:xfrm>
          <a:prstGeom prst="roundRect">
            <a:avLst>
              <a:gd name="adj" fmla="val 4698"/>
            </a:avLst>
          </a:prstGeom>
          <a:solidFill>
            <a:srgbClr val="111827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777240"/>
            <a:ext cx="2724912" cy="502920"/>
          </a:xfrm>
          <a:prstGeom prst="roundRect">
            <a:avLst>
              <a:gd name="adj" fmla="val 25455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795528"/>
            <a:ext cx="1371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0B981"/>
                </a:solidFill>
              </a:rPr>
              <a:t>PHASE 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61504" y="795528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 Months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27064" y="139903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Edge AI on NVIDIA Jetson Orin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27064" y="183794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500+ cameras city-wide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27064" y="227685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Vahan API auto-challan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27064" y="271576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Parivahan portal integration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27064" y="315468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BTP dispatch integration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64224" y="3758184"/>
            <a:ext cx="2176272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37581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City-wide Rollout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315968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0B1018"/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🔗  Live Demo: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83080" y="4370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</a:rPr>
              <a:t>flipkart-gridlock-round2.vercel.app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636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💻  GitHub: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627632" y="4636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</a:rPr>
              <a:t>github.com/utkarsh2338/Flipkart_gridlock_round2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1148</Words>
  <Application>Microsoft Office PowerPoint</Application>
  <PresentationFormat>On-screen Show (16:9)</PresentationFormat>
  <Paragraphs>228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VisionGuard AI — Gridlock Hackathon 2.0</dc:title>
  <dc:subject>PptxGenJS Presentation</dc:subject>
  <dc:creator>VisionGuard AI</dc:creator>
  <cp:lastModifiedBy>Utkarsh Shukla</cp:lastModifiedBy>
  <cp:revision>2</cp:revision>
  <dcterms:created xsi:type="dcterms:W3CDTF">2026-06-18T21:05:53Z</dcterms:created>
  <dcterms:modified xsi:type="dcterms:W3CDTF">2026-06-18T21:10:50Z</dcterms:modified>
</cp:coreProperties>
</file>